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39BE90-18E3-883C-BF52-8BB0BDF0F983}" name="Alejandro Moya Arjona" initials="AM" userId="8844bbcd4db3e5e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818C6C-7670-453E-B26E-F0C5572AE3AA}" type="doc">
      <dgm:prSet loTypeId="urn:microsoft.com/office/officeart/2009/layout/CircleArrowProcess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L"/>
        </a:p>
      </dgm:t>
    </dgm:pt>
    <dgm:pt modelId="{2EA12943-FAFB-4522-A6E4-1AFC72EFB53D}">
      <dgm:prSet phldrT="[Texto]" phldr="0"/>
      <dgm:spPr/>
      <dgm:t>
        <a:bodyPr/>
        <a:lstStyle/>
        <a:p>
          <a:r>
            <a:rPr lang="es-CL" dirty="0"/>
            <a:t>“Ana”</a:t>
          </a:r>
        </a:p>
      </dgm:t>
    </dgm:pt>
    <dgm:pt modelId="{DB5D46E5-D4D7-424A-96D2-8229B553D6ED}" type="parTrans" cxnId="{DE70DF7F-9455-4B82-B6B2-9CB5006A573A}">
      <dgm:prSet/>
      <dgm:spPr/>
      <dgm:t>
        <a:bodyPr/>
        <a:lstStyle/>
        <a:p>
          <a:endParaRPr lang="es-CL"/>
        </a:p>
      </dgm:t>
    </dgm:pt>
    <dgm:pt modelId="{7A855BF0-D1F5-4D54-8ADD-1ED1C6DF315E}" type="sibTrans" cxnId="{DE70DF7F-9455-4B82-B6B2-9CB5006A573A}">
      <dgm:prSet/>
      <dgm:spPr/>
      <dgm:t>
        <a:bodyPr/>
        <a:lstStyle/>
        <a:p>
          <a:endParaRPr lang="es-CL"/>
        </a:p>
      </dgm:t>
    </dgm:pt>
    <dgm:pt modelId="{D7AE2218-FA0C-4CEB-9AF3-BA708C4A1746}">
      <dgm:prSet phldrT="[Texto]" phldr="0"/>
      <dgm:spPr/>
      <dgm:t>
        <a:bodyPr/>
        <a:lstStyle/>
        <a:p>
          <a:r>
            <a:rPr lang="es-CL" dirty="0"/>
            <a:t>“Luis”</a:t>
          </a:r>
        </a:p>
      </dgm:t>
    </dgm:pt>
    <dgm:pt modelId="{602568C3-8A11-41FA-8317-05A67A7755ED}" type="parTrans" cxnId="{3F175D91-0E98-4E65-810A-BAFB8D575F38}">
      <dgm:prSet/>
      <dgm:spPr/>
      <dgm:t>
        <a:bodyPr/>
        <a:lstStyle/>
        <a:p>
          <a:endParaRPr lang="es-CL"/>
        </a:p>
      </dgm:t>
    </dgm:pt>
    <dgm:pt modelId="{0D3B1B40-D146-4B26-A42E-53C69691B44E}" type="sibTrans" cxnId="{3F175D91-0E98-4E65-810A-BAFB8D575F38}">
      <dgm:prSet/>
      <dgm:spPr/>
      <dgm:t>
        <a:bodyPr/>
        <a:lstStyle/>
        <a:p>
          <a:endParaRPr lang="es-CL"/>
        </a:p>
      </dgm:t>
    </dgm:pt>
    <dgm:pt modelId="{C6BB600D-A3D1-49E6-9B89-BDB95A1585AA}">
      <dgm:prSet phldrT="[Texto]" phldr="0"/>
      <dgm:spPr/>
      <dgm:t>
        <a:bodyPr/>
        <a:lstStyle/>
        <a:p>
          <a:r>
            <a:rPr lang="es-CL" dirty="0"/>
            <a:t>“María”</a:t>
          </a:r>
        </a:p>
      </dgm:t>
    </dgm:pt>
    <dgm:pt modelId="{4C61B560-84ED-4F96-A3B9-3AC13B902F89}" type="parTrans" cxnId="{2F5DBC32-DC38-491A-ACB5-01756B71650E}">
      <dgm:prSet/>
      <dgm:spPr/>
      <dgm:t>
        <a:bodyPr/>
        <a:lstStyle/>
        <a:p>
          <a:endParaRPr lang="es-CL"/>
        </a:p>
      </dgm:t>
    </dgm:pt>
    <dgm:pt modelId="{C9FD8D11-3A86-4C34-B386-46FFD6B53A43}" type="sibTrans" cxnId="{2F5DBC32-DC38-491A-ACB5-01756B71650E}">
      <dgm:prSet/>
      <dgm:spPr/>
      <dgm:t>
        <a:bodyPr/>
        <a:lstStyle/>
        <a:p>
          <a:endParaRPr lang="es-CL"/>
        </a:p>
      </dgm:t>
    </dgm:pt>
    <dgm:pt modelId="{2155832C-C57A-483C-9E9B-35905DEA2B20}">
      <dgm:prSet phldrT="[Texto]" phldr="0"/>
      <dgm:spPr/>
      <dgm:t>
        <a:bodyPr/>
        <a:lstStyle/>
        <a:p>
          <a:r>
            <a:rPr lang="es-CL" dirty="0"/>
            <a:t>“Pedro”</a:t>
          </a:r>
        </a:p>
      </dgm:t>
    </dgm:pt>
    <dgm:pt modelId="{66EFFBDE-8010-41D7-9529-07947EE3DE87}" type="parTrans" cxnId="{F2EA633C-E499-4F02-89A4-9F882F90A501}">
      <dgm:prSet/>
      <dgm:spPr/>
      <dgm:t>
        <a:bodyPr/>
        <a:lstStyle/>
        <a:p>
          <a:endParaRPr lang="es-CL"/>
        </a:p>
      </dgm:t>
    </dgm:pt>
    <dgm:pt modelId="{72D5E247-798F-44A8-8500-561CF58294B3}" type="sibTrans" cxnId="{F2EA633C-E499-4F02-89A4-9F882F90A501}">
      <dgm:prSet/>
      <dgm:spPr/>
      <dgm:t>
        <a:bodyPr/>
        <a:lstStyle/>
        <a:p>
          <a:endParaRPr lang="es-CL"/>
        </a:p>
      </dgm:t>
    </dgm:pt>
    <dgm:pt modelId="{C5E74705-65ED-43A2-B2C3-DC7F58C64CE7}" type="pres">
      <dgm:prSet presAssocID="{13818C6C-7670-453E-B26E-F0C5572AE3AA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A09D4DF6-1594-44C3-B930-201F5078661C}" type="pres">
      <dgm:prSet presAssocID="{2EA12943-FAFB-4522-A6E4-1AFC72EFB53D}" presName="Accent1" presStyleCnt="0"/>
      <dgm:spPr/>
    </dgm:pt>
    <dgm:pt modelId="{D53D4E64-85B6-4E7C-B443-E174AAB5B916}" type="pres">
      <dgm:prSet presAssocID="{2EA12943-FAFB-4522-A6E4-1AFC72EFB53D}" presName="Accent" presStyleLbl="node1" presStyleIdx="0" presStyleCnt="4"/>
      <dgm:spPr/>
    </dgm:pt>
    <dgm:pt modelId="{E2D8E087-977F-47F7-9FED-D850C3267EAE}" type="pres">
      <dgm:prSet presAssocID="{2EA12943-FAFB-4522-A6E4-1AFC72EFB53D}" presName="Parent1" presStyleLbl="revTx" presStyleIdx="0" presStyleCnt="4">
        <dgm:presLayoutVars>
          <dgm:chMax val="1"/>
          <dgm:chPref val="1"/>
          <dgm:bulletEnabled val="1"/>
        </dgm:presLayoutVars>
      </dgm:prSet>
      <dgm:spPr/>
    </dgm:pt>
    <dgm:pt modelId="{96D093D4-4108-442B-AEDD-00877DAAC2A0}" type="pres">
      <dgm:prSet presAssocID="{D7AE2218-FA0C-4CEB-9AF3-BA708C4A1746}" presName="Accent2" presStyleCnt="0"/>
      <dgm:spPr/>
    </dgm:pt>
    <dgm:pt modelId="{DD4ECB25-B160-4BE5-A06B-D361A824FDC8}" type="pres">
      <dgm:prSet presAssocID="{D7AE2218-FA0C-4CEB-9AF3-BA708C4A1746}" presName="Accent" presStyleLbl="node1" presStyleIdx="1" presStyleCnt="4"/>
      <dgm:spPr/>
    </dgm:pt>
    <dgm:pt modelId="{F943773A-834A-4095-AA46-8CBB6299B83D}" type="pres">
      <dgm:prSet presAssocID="{D7AE2218-FA0C-4CEB-9AF3-BA708C4A1746}" presName="Parent2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EB855DDA-27BF-4CD5-9657-F386ECAA5004}" type="pres">
      <dgm:prSet presAssocID="{C6BB600D-A3D1-49E6-9B89-BDB95A1585AA}" presName="Accent3" presStyleCnt="0"/>
      <dgm:spPr/>
    </dgm:pt>
    <dgm:pt modelId="{516F2044-D137-49F0-9938-82B7E1D653DC}" type="pres">
      <dgm:prSet presAssocID="{C6BB600D-A3D1-49E6-9B89-BDB95A1585AA}" presName="Accent" presStyleLbl="node1" presStyleIdx="2" presStyleCnt="4"/>
      <dgm:spPr/>
    </dgm:pt>
    <dgm:pt modelId="{6C44AC9C-2E2A-4EF1-B938-7FA47ACD349E}" type="pres">
      <dgm:prSet presAssocID="{C6BB600D-A3D1-49E6-9B89-BDB95A1585AA}" presName="Parent3" presStyleLbl="revTx" presStyleIdx="2" presStyleCnt="4">
        <dgm:presLayoutVars>
          <dgm:chMax val="1"/>
          <dgm:chPref val="1"/>
          <dgm:bulletEnabled val="1"/>
        </dgm:presLayoutVars>
      </dgm:prSet>
      <dgm:spPr/>
    </dgm:pt>
    <dgm:pt modelId="{65FA2946-EAA8-4889-A792-0EC2C4608D55}" type="pres">
      <dgm:prSet presAssocID="{2155832C-C57A-483C-9E9B-35905DEA2B20}" presName="Accent4" presStyleCnt="0"/>
      <dgm:spPr/>
    </dgm:pt>
    <dgm:pt modelId="{490E8A86-82F7-438A-8014-F4955800EFC3}" type="pres">
      <dgm:prSet presAssocID="{2155832C-C57A-483C-9E9B-35905DEA2B20}" presName="Accent" presStyleLbl="node1" presStyleIdx="3" presStyleCnt="4"/>
      <dgm:spPr/>
    </dgm:pt>
    <dgm:pt modelId="{F40424CD-B4FB-4E16-9D37-D0A748208C27}" type="pres">
      <dgm:prSet presAssocID="{2155832C-C57A-483C-9E9B-35905DEA2B20}" presName="Parent4" presStyleLbl="revTx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2F5DBC32-DC38-491A-ACB5-01756B71650E}" srcId="{13818C6C-7670-453E-B26E-F0C5572AE3AA}" destId="{C6BB600D-A3D1-49E6-9B89-BDB95A1585AA}" srcOrd="2" destOrd="0" parTransId="{4C61B560-84ED-4F96-A3B9-3AC13B902F89}" sibTransId="{C9FD8D11-3A86-4C34-B386-46FFD6B53A43}"/>
    <dgm:cxn modelId="{F2EA633C-E499-4F02-89A4-9F882F90A501}" srcId="{13818C6C-7670-453E-B26E-F0C5572AE3AA}" destId="{2155832C-C57A-483C-9E9B-35905DEA2B20}" srcOrd="3" destOrd="0" parTransId="{66EFFBDE-8010-41D7-9529-07947EE3DE87}" sibTransId="{72D5E247-798F-44A8-8500-561CF58294B3}"/>
    <dgm:cxn modelId="{2B2A2D5F-311E-48BF-8388-1BFA89086F4C}" type="presOf" srcId="{C6BB600D-A3D1-49E6-9B89-BDB95A1585AA}" destId="{6C44AC9C-2E2A-4EF1-B938-7FA47ACD349E}" srcOrd="0" destOrd="0" presId="urn:microsoft.com/office/officeart/2009/layout/CircleArrowProcess"/>
    <dgm:cxn modelId="{DE70DF7F-9455-4B82-B6B2-9CB5006A573A}" srcId="{13818C6C-7670-453E-B26E-F0C5572AE3AA}" destId="{2EA12943-FAFB-4522-A6E4-1AFC72EFB53D}" srcOrd="0" destOrd="0" parTransId="{DB5D46E5-D4D7-424A-96D2-8229B553D6ED}" sibTransId="{7A855BF0-D1F5-4D54-8ADD-1ED1C6DF315E}"/>
    <dgm:cxn modelId="{3F175D91-0E98-4E65-810A-BAFB8D575F38}" srcId="{13818C6C-7670-453E-B26E-F0C5572AE3AA}" destId="{D7AE2218-FA0C-4CEB-9AF3-BA708C4A1746}" srcOrd="1" destOrd="0" parTransId="{602568C3-8A11-41FA-8317-05A67A7755ED}" sibTransId="{0D3B1B40-D146-4B26-A42E-53C69691B44E}"/>
    <dgm:cxn modelId="{DD24EF9A-719E-40B2-A6A6-0F254DA7D275}" type="presOf" srcId="{2155832C-C57A-483C-9E9B-35905DEA2B20}" destId="{F40424CD-B4FB-4E16-9D37-D0A748208C27}" srcOrd="0" destOrd="0" presId="urn:microsoft.com/office/officeart/2009/layout/CircleArrowProcess"/>
    <dgm:cxn modelId="{94FB8C9F-5BDB-4087-82B1-1F65DE3E30C1}" type="presOf" srcId="{2EA12943-FAFB-4522-A6E4-1AFC72EFB53D}" destId="{E2D8E087-977F-47F7-9FED-D850C3267EAE}" srcOrd="0" destOrd="0" presId="urn:microsoft.com/office/officeart/2009/layout/CircleArrowProcess"/>
    <dgm:cxn modelId="{DE2D4BB7-664D-4716-B856-5218CE9CB9BF}" type="presOf" srcId="{D7AE2218-FA0C-4CEB-9AF3-BA708C4A1746}" destId="{F943773A-834A-4095-AA46-8CBB6299B83D}" srcOrd="0" destOrd="0" presId="urn:microsoft.com/office/officeart/2009/layout/CircleArrowProcess"/>
    <dgm:cxn modelId="{AD6D4ADE-DDB8-4884-91C6-FE82D09E7358}" type="presOf" srcId="{13818C6C-7670-453E-B26E-F0C5572AE3AA}" destId="{C5E74705-65ED-43A2-B2C3-DC7F58C64CE7}" srcOrd="0" destOrd="0" presId="urn:microsoft.com/office/officeart/2009/layout/CircleArrowProcess"/>
    <dgm:cxn modelId="{40CD7258-7371-4439-814A-A9D1F4F79AA5}" type="presParOf" srcId="{C5E74705-65ED-43A2-B2C3-DC7F58C64CE7}" destId="{A09D4DF6-1594-44C3-B930-201F5078661C}" srcOrd="0" destOrd="0" presId="urn:microsoft.com/office/officeart/2009/layout/CircleArrowProcess"/>
    <dgm:cxn modelId="{C43E7E48-EDCC-4F04-A61F-B7BAC34859C8}" type="presParOf" srcId="{A09D4DF6-1594-44C3-B930-201F5078661C}" destId="{D53D4E64-85B6-4E7C-B443-E174AAB5B916}" srcOrd="0" destOrd="0" presId="urn:microsoft.com/office/officeart/2009/layout/CircleArrowProcess"/>
    <dgm:cxn modelId="{16BA2895-C752-4F0F-80D1-ABCDF1F82A53}" type="presParOf" srcId="{C5E74705-65ED-43A2-B2C3-DC7F58C64CE7}" destId="{E2D8E087-977F-47F7-9FED-D850C3267EAE}" srcOrd="1" destOrd="0" presId="urn:microsoft.com/office/officeart/2009/layout/CircleArrowProcess"/>
    <dgm:cxn modelId="{2499F7AD-C110-4EE1-BA34-C926D398C0B5}" type="presParOf" srcId="{C5E74705-65ED-43A2-B2C3-DC7F58C64CE7}" destId="{96D093D4-4108-442B-AEDD-00877DAAC2A0}" srcOrd="2" destOrd="0" presId="urn:microsoft.com/office/officeart/2009/layout/CircleArrowProcess"/>
    <dgm:cxn modelId="{F0C187D6-901E-46BD-9FF2-0EA0D20C2E0F}" type="presParOf" srcId="{96D093D4-4108-442B-AEDD-00877DAAC2A0}" destId="{DD4ECB25-B160-4BE5-A06B-D361A824FDC8}" srcOrd="0" destOrd="0" presId="urn:microsoft.com/office/officeart/2009/layout/CircleArrowProcess"/>
    <dgm:cxn modelId="{9A17F04A-F4D8-47E2-A048-61C7AB049725}" type="presParOf" srcId="{C5E74705-65ED-43A2-B2C3-DC7F58C64CE7}" destId="{F943773A-834A-4095-AA46-8CBB6299B83D}" srcOrd="3" destOrd="0" presId="urn:microsoft.com/office/officeart/2009/layout/CircleArrowProcess"/>
    <dgm:cxn modelId="{5C7E9C21-6CF7-48DE-8638-ED2DFC1BC840}" type="presParOf" srcId="{C5E74705-65ED-43A2-B2C3-DC7F58C64CE7}" destId="{EB855DDA-27BF-4CD5-9657-F386ECAA5004}" srcOrd="4" destOrd="0" presId="urn:microsoft.com/office/officeart/2009/layout/CircleArrowProcess"/>
    <dgm:cxn modelId="{B31352BB-25AA-4D13-A152-C3077FF95C62}" type="presParOf" srcId="{EB855DDA-27BF-4CD5-9657-F386ECAA5004}" destId="{516F2044-D137-49F0-9938-82B7E1D653DC}" srcOrd="0" destOrd="0" presId="urn:microsoft.com/office/officeart/2009/layout/CircleArrowProcess"/>
    <dgm:cxn modelId="{83C47D42-0862-48F8-8309-0D720F69C4DE}" type="presParOf" srcId="{C5E74705-65ED-43A2-B2C3-DC7F58C64CE7}" destId="{6C44AC9C-2E2A-4EF1-B938-7FA47ACD349E}" srcOrd="5" destOrd="0" presId="urn:microsoft.com/office/officeart/2009/layout/CircleArrowProcess"/>
    <dgm:cxn modelId="{BBEF6398-7250-451F-B7B4-C5DF5E48E37A}" type="presParOf" srcId="{C5E74705-65ED-43A2-B2C3-DC7F58C64CE7}" destId="{65FA2946-EAA8-4889-A792-0EC2C4608D55}" srcOrd="6" destOrd="0" presId="urn:microsoft.com/office/officeart/2009/layout/CircleArrowProcess"/>
    <dgm:cxn modelId="{11812023-1840-44D8-AE9F-5AA745840FB4}" type="presParOf" srcId="{65FA2946-EAA8-4889-A792-0EC2C4608D55}" destId="{490E8A86-82F7-438A-8014-F4955800EFC3}" srcOrd="0" destOrd="0" presId="urn:microsoft.com/office/officeart/2009/layout/CircleArrowProcess"/>
    <dgm:cxn modelId="{9890C2E2-0A68-4A59-B144-8D3CE20993C2}" type="presParOf" srcId="{C5E74705-65ED-43A2-B2C3-DC7F58C64CE7}" destId="{F40424CD-B4FB-4E16-9D37-D0A748208C27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3D4E64-85B6-4E7C-B443-E174AAB5B916}">
      <dsp:nvSpPr>
        <dsp:cNvPr id="0" name=""/>
        <dsp:cNvSpPr/>
      </dsp:nvSpPr>
      <dsp:spPr>
        <a:xfrm>
          <a:off x="2731534" y="0"/>
          <a:ext cx="1610593" cy="1610757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8E087-977F-47F7-9FED-D850C3267EAE}">
      <dsp:nvSpPr>
        <dsp:cNvPr id="0" name=""/>
        <dsp:cNvSpPr/>
      </dsp:nvSpPr>
      <dsp:spPr>
        <a:xfrm>
          <a:off x="3087127" y="583050"/>
          <a:ext cx="898802" cy="449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/>
            <a:t>“Ana”</a:t>
          </a:r>
        </a:p>
      </dsp:txBody>
      <dsp:txXfrm>
        <a:off x="3087127" y="583050"/>
        <a:ext cx="898802" cy="449354"/>
      </dsp:txXfrm>
    </dsp:sp>
    <dsp:sp modelId="{DD4ECB25-B160-4BE5-A06B-D361A824FDC8}">
      <dsp:nvSpPr>
        <dsp:cNvPr id="0" name=""/>
        <dsp:cNvSpPr/>
      </dsp:nvSpPr>
      <dsp:spPr>
        <a:xfrm>
          <a:off x="2284097" y="925619"/>
          <a:ext cx="1610593" cy="1610757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3773A-834A-4095-AA46-8CBB6299B83D}">
      <dsp:nvSpPr>
        <dsp:cNvPr id="0" name=""/>
        <dsp:cNvSpPr/>
      </dsp:nvSpPr>
      <dsp:spPr>
        <a:xfrm>
          <a:off x="2637877" y="1510378"/>
          <a:ext cx="898802" cy="449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/>
            <a:t>“Luis”</a:t>
          </a:r>
        </a:p>
      </dsp:txBody>
      <dsp:txXfrm>
        <a:off x="2637877" y="1510378"/>
        <a:ext cx="898802" cy="449354"/>
      </dsp:txXfrm>
    </dsp:sp>
    <dsp:sp modelId="{516F2044-D137-49F0-9938-82B7E1D653DC}">
      <dsp:nvSpPr>
        <dsp:cNvPr id="0" name=""/>
        <dsp:cNvSpPr/>
      </dsp:nvSpPr>
      <dsp:spPr>
        <a:xfrm>
          <a:off x="2731534" y="1854656"/>
          <a:ext cx="1610593" cy="1610757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4AC9C-2E2A-4EF1-B938-7FA47ACD349E}">
      <dsp:nvSpPr>
        <dsp:cNvPr id="0" name=""/>
        <dsp:cNvSpPr/>
      </dsp:nvSpPr>
      <dsp:spPr>
        <a:xfrm>
          <a:off x="3087127" y="2437706"/>
          <a:ext cx="898802" cy="449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/>
            <a:t>“María”</a:t>
          </a:r>
        </a:p>
      </dsp:txBody>
      <dsp:txXfrm>
        <a:off x="3087127" y="2437706"/>
        <a:ext cx="898802" cy="449354"/>
      </dsp:txXfrm>
    </dsp:sp>
    <dsp:sp modelId="{490E8A86-82F7-438A-8014-F4955800EFC3}">
      <dsp:nvSpPr>
        <dsp:cNvPr id="0" name=""/>
        <dsp:cNvSpPr/>
      </dsp:nvSpPr>
      <dsp:spPr>
        <a:xfrm>
          <a:off x="2398902" y="2887061"/>
          <a:ext cx="1383702" cy="1384371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424CD-B4FB-4E16-9D37-D0A748208C27}">
      <dsp:nvSpPr>
        <dsp:cNvPr id="0" name=""/>
        <dsp:cNvSpPr/>
      </dsp:nvSpPr>
      <dsp:spPr>
        <a:xfrm>
          <a:off x="2637877" y="3365034"/>
          <a:ext cx="898802" cy="449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/>
            <a:t>“Pedro”</a:t>
          </a:r>
        </a:p>
      </dsp:txBody>
      <dsp:txXfrm>
        <a:off x="2637877" y="3365034"/>
        <a:ext cx="898802" cy="4493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6453F1-45DA-44EA-9895-2A27AC72D546}" type="datetimeFigureOut">
              <a:rPr lang="es-CL" smtClean="0"/>
              <a:t>26-03-2026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F47DE0-FB71-4D22-A7AC-33607B9655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5737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58AF9A-678B-D288-6C46-22D46B4BD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6EADA7-398D-AA8C-3ABA-A9EB512D8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7289C4-A31F-B89F-864C-88DEB788A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64B7-7770-4436-A6DE-682B491AB21E}" type="datetimeFigureOut">
              <a:rPr lang="es-CL" smtClean="0"/>
              <a:t>26-03-2026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74A9FA-2D3A-013C-B98E-5B06E95C7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8F5825-38CD-979C-F9F6-506275061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6303-B20B-4620-AA56-1AAE9FF447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6734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A7DE1-895E-338A-6B73-FB4D53B96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76EF7F-49F9-A595-ADD3-AE5CE759D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E76167-E014-61B3-09BA-3574CF013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64B7-7770-4436-A6DE-682B491AB21E}" type="datetimeFigureOut">
              <a:rPr lang="es-CL" smtClean="0"/>
              <a:t>26-03-2026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7CCB97-253F-B25E-63D3-FC4EEB29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F367DC-DD83-FED8-0F69-4FF7D8812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6303-B20B-4620-AA56-1AAE9FF447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1134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3BB61-F116-1865-27C3-A2D062422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BCAFD5-96C9-4E91-C9E7-B658BB5B6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1424FE-2477-4CA3-BC98-518CD6BA5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64B7-7770-4436-A6DE-682B491AB21E}" type="datetimeFigureOut">
              <a:rPr lang="es-CL" smtClean="0"/>
              <a:t>26-03-2026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2FD68E-039A-64C4-79F8-F3E1C200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AF9E76-5915-DDDD-361D-B9E28EBEE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6303-B20B-4620-AA56-1AAE9FF447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77564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C8E8D0-BB1D-E166-E370-7A5653FCA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FBB3E2-9D0F-5583-088D-2946464B47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BCF5E5-59F8-DC69-8E5A-7167C106B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7048F6-DC35-092F-2E3C-4D13D354F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64B7-7770-4436-A6DE-682B491AB21E}" type="datetimeFigureOut">
              <a:rPr lang="es-CL" smtClean="0"/>
              <a:t>26-03-2026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226365-387D-2780-1583-36161D79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C0EAAD-8408-2F1D-1475-E89FE2383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6303-B20B-4620-AA56-1AAE9FF447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0923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44BEF-8DE1-E8AF-7DE2-49BA79C5C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DCD4F7-7105-4575-DF62-FDC3A8855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1744C4-6315-E6D7-73BB-243E69574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3195120-46D1-F1BF-7146-47841364C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8088536-786E-585D-5116-2D1B8184BB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826477B-3B49-DC80-0408-41683B776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64B7-7770-4436-A6DE-682B491AB21E}" type="datetimeFigureOut">
              <a:rPr lang="es-CL" smtClean="0"/>
              <a:t>26-03-2026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54DB26E-EC6B-CE54-500C-43F6D2092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171A1B9-CBEA-1111-930C-3755B20B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6303-B20B-4620-AA56-1AAE9FF447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848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E6976-ADD2-F9A2-94BF-F91CF6FE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11C905B-A0DC-BA30-9AFA-87808C7F0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64B7-7770-4436-A6DE-682B491AB21E}" type="datetimeFigureOut">
              <a:rPr lang="es-CL" smtClean="0"/>
              <a:t>26-03-2026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2A66001-76D0-1D49-AF04-15D6274FD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C90BA2-14E9-5BBF-2422-22F49ECCF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6303-B20B-4620-AA56-1AAE9FF447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7537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981899-F9E6-908A-CB9A-D1EB0170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64B7-7770-4436-A6DE-682B491AB21E}" type="datetimeFigureOut">
              <a:rPr lang="es-CL" smtClean="0"/>
              <a:t>26-03-2026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62DDCB2-A426-4848-369B-D070D4F1A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D3C35B-95E2-B39C-77B9-A6F680A3C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6303-B20B-4620-AA56-1AAE9FF447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7458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476D1-2953-8A93-B38E-3B2A8B43B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1CFF1F-DDCA-DE72-D2D3-AB9B043C9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0C26E4-0271-1BD2-CA0F-561C72330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6E9FA1-47B1-EA7C-07CD-E28691836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64B7-7770-4436-A6DE-682B491AB21E}" type="datetimeFigureOut">
              <a:rPr lang="es-CL" smtClean="0"/>
              <a:t>26-03-2026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8D52C1-0643-6E0F-9827-8B9562CFD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B3FC73-03C1-B0B9-4699-9C0B0DC9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6303-B20B-4620-AA56-1AAE9FF447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0681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44ED5-9D48-3CCB-61A0-49EDC7F25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E486F80-00AB-97D3-9368-F85DA43FA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E03984-B10D-891C-6076-C9C09F088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740A3F-8FA1-C5F9-A744-5E846AD41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64B7-7770-4436-A6DE-682B491AB21E}" type="datetimeFigureOut">
              <a:rPr lang="es-CL" smtClean="0"/>
              <a:t>26-03-2026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F849A1-FC26-3AE9-919F-AF40E6528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7FE922-1F5B-9340-E5C9-905A34D3B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6303-B20B-4620-AA56-1AAE9FF447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5170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92F3A8-0372-14D6-1E7C-370D2460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5F86A4-10AE-00B0-B9F9-89E4350A6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62C4DA-42AE-82CB-4CCF-BB33F0DF0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64B7-7770-4436-A6DE-682B491AB21E}" type="datetimeFigureOut">
              <a:rPr lang="es-CL" smtClean="0"/>
              <a:t>26-03-2026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61B2C6-1DFD-82EC-EEC8-3ED7C9E65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06C01E-EC9B-D251-EA1E-C2BB7977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6303-B20B-4620-AA56-1AAE9FF447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459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012DC4-E532-DA4E-76A3-ECA891BB8F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D62D1C-F347-43E7-7767-0C4616A4E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9A6A93-9C38-164E-86D3-BEFE86883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64B7-7770-4436-A6DE-682B491AB21E}" type="datetimeFigureOut">
              <a:rPr lang="es-CL" smtClean="0"/>
              <a:t>26-03-2026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92F699-6B9A-63A5-A59A-B573F1B6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1393F2-9EBF-C435-4044-D721BD71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6303-B20B-4620-AA56-1AAE9FF447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5030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949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555F6E-7C24-168B-D6DC-7BC2040C5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5E6D91-3672-FD98-60FE-6DFF4A8F1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150A3E-2446-A918-2CFF-B7432BF0DE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BE64B7-7770-4436-A6DE-682B491AB21E}" type="datetimeFigureOut">
              <a:rPr lang="es-CL" smtClean="0"/>
              <a:t>26-03-2026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E55DFB-67A1-A87B-EE48-C9606C967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1F67BF-672D-D23B-E4F0-F99ECCAD3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426303-B20B-4620-AA56-1AAE9FF447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70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s/pensamiento-luz-bombilla-idea-306208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2FC6BF-930E-E45B-2D23-E3F1266DE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Estructuras</a:t>
            </a:r>
            <a:r>
              <a:rPr lang="en-US" sz="5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de control </a:t>
            </a:r>
            <a:r>
              <a:rPr lang="en-US" sz="540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</a:t>
            </a:r>
            <a:r>
              <a:rPr lang="en-US" sz="5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Python</a:t>
            </a:r>
            <a:br>
              <a:rPr lang="en-US" sz="5400" dirty="0"/>
            </a:br>
            <a:endParaRPr lang="es-CL" sz="5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C154C6-1515-7383-078D-1B3024D6ED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594741"/>
          </a:xfrm>
        </p:spPr>
        <p:txBody>
          <a:bodyPr>
            <a:normAutofit/>
          </a:bodyPr>
          <a:lstStyle/>
          <a:p>
            <a:pPr algn="l"/>
            <a:r>
              <a:rPr lang="en-US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Listas</a:t>
            </a:r>
            <a:r>
              <a:rPr lang="en-US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for, while y match</a:t>
            </a:r>
            <a:endParaRPr lang="en-US" dirty="0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673C0580-7139-5F2B-3CE3-A903C00209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4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02EBEEB1-1857-E96B-26C6-D6A644136F6F}"/>
              </a:ext>
            </a:extLst>
          </p:cNvPr>
          <p:cNvSpPr txBox="1">
            <a:spLocks/>
          </p:cNvSpPr>
          <p:nvPr/>
        </p:nvSpPr>
        <p:spPr>
          <a:xfrm>
            <a:off x="8771337" y="6180773"/>
            <a:ext cx="3417615" cy="5947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Alejandro Moya Arjona</a:t>
            </a:r>
          </a:p>
          <a:p>
            <a:pPr algn="r"/>
            <a:r>
              <a:rPr lang="en-US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Ingeniero</a:t>
            </a:r>
            <a:r>
              <a:rPr lang="en-US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en</a:t>
            </a:r>
            <a:r>
              <a:rPr lang="en-US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Informática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771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D3347D1-2235-AD81-1BA9-0D77D150A653}"/>
              </a:ext>
            </a:extLst>
          </p:cNvPr>
          <p:cNvSpPr/>
          <p:nvPr/>
        </p:nvSpPr>
        <p:spPr>
          <a:xfrm>
            <a:off x="508166" y="366702"/>
            <a:ext cx="4992838" cy="72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D961085E-69D2-4C02-5452-FE6FAB0C9753}"/>
              </a:ext>
            </a:extLst>
          </p:cNvPr>
          <p:cNvSpPr/>
          <p:nvPr/>
        </p:nvSpPr>
        <p:spPr>
          <a:xfrm>
            <a:off x="508166" y="2314575"/>
            <a:ext cx="3336102" cy="2616637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97F05DF5-D150-00AF-1C21-93C34658EC5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42599" y="2600138"/>
            <a:ext cx="612000" cy="61200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88497A63-C015-520D-E9CC-0DA6BBE1E159}"/>
              </a:ext>
            </a:extLst>
          </p:cNvPr>
          <p:cNvSpPr/>
          <p:nvPr/>
        </p:nvSpPr>
        <p:spPr>
          <a:xfrm>
            <a:off x="742600" y="3516329"/>
            <a:ext cx="2254010" cy="36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Almacenar datos</a:t>
            </a:r>
            <a:endParaRPr lang="en-US" sz="22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5048787B-4400-D299-5E54-BEAA9B744885}"/>
              </a:ext>
            </a:extLst>
          </p:cNvPr>
          <p:cNvSpPr/>
          <p:nvPr/>
        </p:nvSpPr>
        <p:spPr>
          <a:xfrm>
            <a:off x="742599" y="3997818"/>
            <a:ext cx="2963352" cy="69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Aprender a guardar múltiples valores en listas</a:t>
            </a:r>
            <a:endParaRPr lang="en-US" sz="175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025FFCDA-0E10-57DD-5298-86FD4BDB081D}"/>
              </a:ext>
            </a:extLst>
          </p:cNvPr>
          <p:cNvSpPr/>
          <p:nvPr/>
        </p:nvSpPr>
        <p:spPr>
          <a:xfrm>
            <a:off x="4370505" y="2314575"/>
            <a:ext cx="3336102" cy="2616637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0" name="Image 2">
            <a:extLst>
              <a:ext uri="{FF2B5EF4-FFF2-40B4-BE49-F238E27FC236}">
                <a16:creationId xmlns:a16="http://schemas.microsoft.com/office/drawing/2014/main" id="{3DA80A63-E112-B949-E009-4C30856C9C2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604938" y="2600139"/>
            <a:ext cx="612000" cy="61200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C92B57D8-E8DE-434F-32B4-F19292293DF1}"/>
              </a:ext>
            </a:extLst>
          </p:cNvPr>
          <p:cNvSpPr/>
          <p:nvPr/>
        </p:nvSpPr>
        <p:spPr>
          <a:xfrm>
            <a:off x="4604939" y="3516329"/>
            <a:ext cx="2254010" cy="36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Controlar el flujo</a:t>
            </a:r>
            <a:endParaRPr lang="en-US" sz="22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D62F6876-5A83-AA9F-AC6A-D0D440E152EA}"/>
              </a:ext>
            </a:extLst>
          </p:cNvPr>
          <p:cNvSpPr/>
          <p:nvPr/>
        </p:nvSpPr>
        <p:spPr>
          <a:xfrm>
            <a:off x="4604938" y="3997818"/>
            <a:ext cx="2963352" cy="69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Dominar ciclos y estructuras condicionales</a:t>
            </a:r>
            <a:endParaRPr lang="en-US" sz="17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C7DCCE35-56C9-A54F-63A1-B4892DA19CD2}"/>
              </a:ext>
            </a:extLst>
          </p:cNvPr>
          <p:cNvSpPr/>
          <p:nvPr/>
        </p:nvSpPr>
        <p:spPr>
          <a:xfrm>
            <a:off x="8232845" y="2314575"/>
            <a:ext cx="3336102" cy="2616637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4" name="Image 4">
            <a:extLst>
              <a:ext uri="{FF2B5EF4-FFF2-40B4-BE49-F238E27FC236}">
                <a16:creationId xmlns:a16="http://schemas.microsoft.com/office/drawing/2014/main" id="{5663D761-CE3B-8CFF-F989-328A1D3F576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467279" y="2600139"/>
            <a:ext cx="612000" cy="612000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1EF5BAA6-0125-9959-BC09-0B50C680E2F6}"/>
              </a:ext>
            </a:extLst>
          </p:cNvPr>
          <p:cNvSpPr/>
          <p:nvPr/>
        </p:nvSpPr>
        <p:spPr>
          <a:xfrm>
            <a:off x="8467280" y="3516329"/>
            <a:ext cx="2254010" cy="36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Escribir mejor código</a:t>
            </a:r>
            <a:endParaRPr lang="en-US" sz="22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57270539-63FD-0ADB-2AFE-0DEFCDCBC845}"/>
              </a:ext>
            </a:extLst>
          </p:cNvPr>
          <p:cNvSpPr/>
          <p:nvPr/>
        </p:nvSpPr>
        <p:spPr>
          <a:xfrm>
            <a:off x="8467279" y="3997818"/>
            <a:ext cx="2963352" cy="69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Evitar repetición y hacer programas más eficientes</a:t>
            </a:r>
            <a:endParaRPr lang="en-US" sz="1750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F0FA23AA-4460-278D-3DE7-D676A992AC28}"/>
              </a:ext>
            </a:extLst>
          </p:cNvPr>
          <p:cNvSpPr/>
          <p:nvPr/>
        </p:nvSpPr>
        <p:spPr>
          <a:xfrm>
            <a:off x="782421" y="5841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5550"/>
              </a:lnSpc>
            </a:pPr>
            <a:r>
              <a:rPr lang="en-US" sz="445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Objetivo</a:t>
            </a: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de la </a:t>
            </a:r>
            <a:r>
              <a:rPr lang="en-US" sz="445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clase</a:t>
            </a:r>
            <a:endParaRPr lang="en-US" sz="4450" dirty="0"/>
          </a:p>
        </p:txBody>
      </p:sp>
    </p:spTree>
    <p:extLst>
      <p:ext uri="{BB962C8B-B14F-4D97-AF65-F5344CB8AC3E}">
        <p14:creationId xmlns:p14="http://schemas.microsoft.com/office/powerpoint/2010/main" val="3645554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A354368-FFE2-6952-3FA7-D4E41B349B6F}"/>
              </a:ext>
            </a:extLst>
          </p:cNvPr>
          <p:cNvSpPr/>
          <p:nvPr/>
        </p:nvSpPr>
        <p:spPr>
          <a:xfrm>
            <a:off x="782421" y="5841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¿Qué es una lista?</a:t>
            </a:r>
            <a:endParaRPr lang="en-US" sz="44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DF401DB-2D54-688A-47AC-427BC7D64236}"/>
              </a:ext>
            </a:extLst>
          </p:cNvPr>
          <p:cNvSpPr/>
          <p:nvPr/>
        </p:nvSpPr>
        <p:spPr>
          <a:xfrm>
            <a:off x="782421" y="2148435"/>
            <a:ext cx="6075580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lista es una </a:t>
            </a:r>
            <a:r>
              <a:rPr lang="en-US" sz="2000" b="1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colección ordenada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elementos. Puedes pensar en ella como una caja donde guardas varios valores juntos.</a:t>
            </a:r>
            <a:endParaRPr lang="en-US" sz="2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FA33F8A-F795-E222-B01E-20EC9FEF25A8}"/>
              </a:ext>
            </a:extLst>
          </p:cNvPr>
          <p:cNvSpPr/>
          <p:nvPr/>
        </p:nvSpPr>
        <p:spPr>
          <a:xfrm>
            <a:off x="782421" y="3372993"/>
            <a:ext cx="607558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Características principales: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A4FAE3E-EFA9-8698-C117-7BB116ACEA18}"/>
              </a:ext>
            </a:extLst>
          </p:cNvPr>
          <p:cNvSpPr/>
          <p:nvPr/>
        </p:nvSpPr>
        <p:spPr>
          <a:xfrm>
            <a:off x="782421" y="3917228"/>
            <a:ext cx="6075580" cy="117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Elementos indexados (empiezan en 0)</a:t>
            </a:r>
            <a:endParaRPr lang="en-US" sz="20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Pueden contener diferentes tipos de datos</a:t>
            </a:r>
            <a:endParaRPr lang="en-US" sz="20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pueden modificar después de crearlas</a:t>
            </a:r>
            <a:endParaRPr lang="en-US" sz="2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3F8610E-64E9-451A-9630-A087285231CD}"/>
              </a:ext>
            </a:extLst>
          </p:cNvPr>
          <p:cNvSpPr/>
          <p:nvPr/>
        </p:nvSpPr>
        <p:spPr>
          <a:xfrm>
            <a:off x="7299365" y="2148435"/>
            <a:ext cx="4595990" cy="1474113"/>
          </a:xfrm>
          <a:prstGeom prst="roundRect">
            <a:avLst>
              <a:gd name="adj" fmla="val 2308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A4407DE-7F00-09F9-DEB6-C2882441E6D8}"/>
              </a:ext>
            </a:extLst>
          </p:cNvPr>
          <p:cNvSpPr/>
          <p:nvPr/>
        </p:nvSpPr>
        <p:spPr>
          <a:xfrm>
            <a:off x="7582852" y="2375249"/>
            <a:ext cx="4188677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[85, 92, 78, 96, 88]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nombres = ["Ana", "Luis", "María"]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mezcla = [1, "texto", True, 3.14]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798630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0"/>
            <a:ext cx="48006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1373684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endParaRPr lang="en-US" sz="3708" dirty="0"/>
          </a:p>
        </p:txBody>
      </p:sp>
      <p:sp>
        <p:nvSpPr>
          <p:cNvPr id="4" name="Text 1"/>
          <p:cNvSpPr/>
          <p:nvPr/>
        </p:nvSpPr>
        <p:spPr>
          <a:xfrm>
            <a:off x="661492" y="2247801"/>
            <a:ext cx="6297018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Imagina que tienes una lista de 100 estudiantes. </a:t>
            </a:r>
            <a:r>
              <a:rPr lang="en-US" b="1" dirty="0">
                <a:solidFill>
                  <a:srgbClr val="C364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¿Tendrías que escribir 100 líneas de código</a:t>
            </a:r>
            <a:r>
              <a:rPr lang="en-US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mostrar cada nombre?</a:t>
            </a:r>
            <a:endParaRPr lang="en-US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334" y="3027264"/>
            <a:ext cx="283468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5756" y="3027363"/>
            <a:ext cx="568275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Repetir código es tedioso y propenso a errores</a:t>
            </a:r>
            <a:endParaRPr lang="en-US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334" y="3972223"/>
            <a:ext cx="283468" cy="2834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5756" y="3972322"/>
            <a:ext cx="568275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¿Qué pasa si la lista cambia de tamaño?</a:t>
            </a:r>
            <a:endParaRPr lang="en-US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334" y="4917182"/>
            <a:ext cx="283468" cy="2834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75756" y="4917282"/>
            <a:ext cx="568275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Necesitamos una forma más inteligente de hacerlo</a:t>
            </a:r>
            <a:endParaRPr lang="en-US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E4C08EDC-216D-1BD4-35CC-651E91AA324B}"/>
              </a:ext>
            </a:extLst>
          </p:cNvPr>
          <p:cNvSpPr/>
          <p:nvPr/>
        </p:nvSpPr>
        <p:spPr>
          <a:xfrm>
            <a:off x="782421" y="5841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625"/>
              </a:lnSpc>
            </a:pPr>
            <a:r>
              <a:rPr lang="en-US" sz="480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Problema</a:t>
            </a:r>
            <a:r>
              <a:rPr lang="en-US" sz="4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480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inicial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61C37102-41C4-673D-E6CF-24EAFB9F3E8E}"/>
              </a:ext>
            </a:extLst>
          </p:cNvPr>
          <p:cNvSpPr/>
          <p:nvPr/>
        </p:nvSpPr>
        <p:spPr>
          <a:xfrm>
            <a:off x="782420" y="584105"/>
            <a:ext cx="78662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500"/>
              </a:lnSpc>
            </a:pPr>
            <a:r>
              <a:rPr lang="en-US" sz="4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Ciclo for: la </a:t>
            </a:r>
            <a:r>
              <a:rPr lang="en-US" sz="480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solución</a:t>
            </a:r>
            <a:r>
              <a:rPr lang="en-US" sz="4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perfecta</a:t>
            </a:r>
            <a:endParaRPr lang="en-US" sz="48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F88CB085-F6DA-5159-31D2-F7D64BB30AFB}"/>
              </a:ext>
            </a:extLst>
          </p:cNvPr>
          <p:cNvSpPr/>
          <p:nvPr/>
        </p:nvSpPr>
        <p:spPr>
          <a:xfrm>
            <a:off x="3264990" y="2183606"/>
            <a:ext cx="2982435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Sintaxis básica</a:t>
            </a:r>
            <a:endParaRPr lang="en-US" sz="28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5CF13818-8CB6-806F-028C-0783C94906F4}"/>
              </a:ext>
            </a:extLst>
          </p:cNvPr>
          <p:cNvSpPr/>
          <p:nvPr/>
        </p:nvSpPr>
        <p:spPr>
          <a:xfrm>
            <a:off x="3255823" y="2639616"/>
            <a:ext cx="5407455" cy="1119187"/>
          </a:xfrm>
          <a:prstGeom prst="roundRect">
            <a:avLst>
              <a:gd name="adj" fmla="val 2469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es-CL" sz="28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00B8751-8AF1-58BE-7AAF-01EE886589DA}"/>
              </a:ext>
            </a:extLst>
          </p:cNvPr>
          <p:cNvSpPr/>
          <p:nvPr/>
        </p:nvSpPr>
        <p:spPr>
          <a:xfrm>
            <a:off x="3486090" y="2823805"/>
            <a:ext cx="4811030" cy="75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elemento in lista:</a:t>
            </a:r>
            <a:endParaRPr lang="en-US" sz="20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# código a repetir</a:t>
            </a:r>
            <a:endParaRPr lang="en-US" sz="20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print(elemento)</a:t>
            </a:r>
            <a:endParaRPr lang="en-US" sz="20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C85D2ACC-BAEA-C5F8-6153-16B3C68C835D}"/>
              </a:ext>
            </a:extLst>
          </p:cNvPr>
          <p:cNvSpPr/>
          <p:nvPr/>
        </p:nvSpPr>
        <p:spPr>
          <a:xfrm>
            <a:off x="1774406" y="4487261"/>
            <a:ext cx="2982435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¿Cómo funciona?</a:t>
            </a:r>
            <a:endParaRPr lang="en-US" sz="2800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EBF38208-BC84-9105-A6F3-0F07FEDB1646}"/>
              </a:ext>
            </a:extLst>
          </p:cNvPr>
          <p:cNvGrpSpPr/>
          <p:nvPr/>
        </p:nvGrpSpPr>
        <p:grpSpPr>
          <a:xfrm>
            <a:off x="1774406" y="5105535"/>
            <a:ext cx="8946038" cy="1117307"/>
            <a:chOff x="3243577" y="4422131"/>
            <a:chExt cx="8486450" cy="2007564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A3F0CF40-6D73-F233-F723-DB6D5ACF9B7D}"/>
                </a:ext>
              </a:extLst>
            </p:cNvPr>
            <p:cNvSpPr txBox="1"/>
            <p:nvPr/>
          </p:nvSpPr>
          <p:spPr>
            <a:xfrm>
              <a:off x="4164554" y="4715367"/>
              <a:ext cx="7565473" cy="1714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solidFill>
                    <a:srgbClr val="38465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El </a:t>
              </a:r>
              <a:r>
                <a:rPr lang="en-US" sz="2800" dirty="0" err="1">
                  <a:solidFill>
                    <a:srgbClr val="38465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ciclo</a:t>
              </a:r>
              <a:r>
                <a:rPr lang="en-US" sz="2800" dirty="0">
                  <a:solidFill>
                    <a:srgbClr val="38465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</a:t>
              </a:r>
              <a:r>
                <a:rPr lang="en-US" sz="2800" b="1" dirty="0" err="1">
                  <a:latin typeface="Roboto" pitchFamily="34" charset="0"/>
                  <a:ea typeface="Roboto" pitchFamily="34" charset="-122"/>
                  <a:cs typeface="Roboto" pitchFamily="34" charset="-120"/>
                </a:rPr>
                <a:t>recorre</a:t>
              </a:r>
              <a:r>
                <a:rPr lang="en-US" sz="2800" b="1" dirty="0">
                  <a:latin typeface="Roboto" pitchFamily="34" charset="0"/>
                  <a:ea typeface="Roboto" pitchFamily="34" charset="-122"/>
                  <a:cs typeface="Roboto" pitchFamily="34" charset="-120"/>
                </a:rPr>
                <a:t> </a:t>
              </a:r>
              <a:r>
                <a:rPr lang="en-US" sz="2800" b="1" dirty="0" err="1">
                  <a:latin typeface="Roboto" pitchFamily="34" charset="0"/>
                  <a:ea typeface="Roboto" pitchFamily="34" charset="-122"/>
                  <a:cs typeface="Roboto" pitchFamily="34" charset="-120"/>
                </a:rPr>
                <a:t>automáticamente</a:t>
              </a:r>
              <a:r>
                <a:rPr lang="en-US" sz="2800" b="1" dirty="0">
                  <a:latin typeface="Roboto" pitchFamily="34" charset="0"/>
                  <a:ea typeface="Roboto" pitchFamily="34" charset="-122"/>
                  <a:cs typeface="Roboto" pitchFamily="34" charset="-120"/>
                </a:rPr>
                <a:t> </a:t>
              </a:r>
              <a:r>
                <a:rPr lang="en-US" sz="2800" dirty="0" err="1">
                  <a:solidFill>
                    <a:srgbClr val="38465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cada</a:t>
              </a:r>
              <a:r>
                <a:rPr lang="en-US" sz="2800" dirty="0">
                  <a:solidFill>
                    <a:srgbClr val="38465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</a:t>
              </a:r>
              <a:r>
                <a:rPr lang="en-US" sz="2800" dirty="0" err="1">
                  <a:solidFill>
                    <a:srgbClr val="38465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elemento</a:t>
              </a:r>
              <a:r>
                <a:rPr lang="en-US" sz="2800" dirty="0">
                  <a:solidFill>
                    <a:srgbClr val="38465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de la </a:t>
              </a:r>
              <a:r>
                <a:rPr lang="en-US" sz="2800" dirty="0" err="1">
                  <a:solidFill>
                    <a:srgbClr val="38465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lista</a:t>
              </a:r>
              <a:r>
                <a:rPr lang="en-US" sz="2800" dirty="0">
                  <a:solidFill>
                    <a:srgbClr val="38465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, uno </a:t>
              </a:r>
              <a:r>
                <a:rPr lang="en-US" sz="2800" dirty="0" err="1">
                  <a:solidFill>
                    <a:srgbClr val="38465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por</a:t>
              </a:r>
              <a:r>
                <a:rPr lang="en-US" sz="2800" dirty="0">
                  <a:solidFill>
                    <a:srgbClr val="38465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uno.</a:t>
              </a:r>
              <a:endParaRPr lang="en-US" sz="2800" dirty="0"/>
            </a:p>
          </p:txBody>
        </p: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DE38EFCD-11DD-B10B-6AB9-5CBD17DA7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3243577" y="4422131"/>
              <a:ext cx="920977" cy="19483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32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>
            <a:extLst>
              <a:ext uri="{FF2B5EF4-FFF2-40B4-BE49-F238E27FC236}">
                <a16:creationId xmlns:a16="http://schemas.microsoft.com/office/drawing/2014/main" id="{1EAB056D-274B-3E8B-4E2E-AA88D61F027D}"/>
              </a:ext>
            </a:extLst>
          </p:cNvPr>
          <p:cNvSpPr/>
          <p:nvPr/>
        </p:nvSpPr>
        <p:spPr>
          <a:xfrm>
            <a:off x="-425350" y="1182231"/>
            <a:ext cx="99407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pic>
        <p:nvPicPr>
          <p:cNvPr id="18" name="Image 0">
            <a:extLst>
              <a:ext uri="{FF2B5EF4-FFF2-40B4-BE49-F238E27FC236}">
                <a16:creationId xmlns:a16="http://schemas.microsoft.com/office/drawing/2014/main" id="{DC54F6CD-9A37-67B0-9776-6A2A018EC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981" y="2146161"/>
            <a:ext cx="2749487" cy="748903"/>
          </a:xfrm>
          <a:prstGeom prst="rect">
            <a:avLst/>
          </a:prstGeom>
        </p:spPr>
      </p:pic>
      <p:sp>
        <p:nvSpPr>
          <p:cNvPr id="19" name="Text 1">
            <a:extLst>
              <a:ext uri="{FF2B5EF4-FFF2-40B4-BE49-F238E27FC236}">
                <a16:creationId xmlns:a16="http://schemas.microsoft.com/office/drawing/2014/main" id="{CC173FCB-CED2-58EE-60E8-DCCF869715E8}"/>
              </a:ext>
            </a:extLst>
          </p:cNvPr>
          <p:cNvSpPr/>
          <p:nvPr/>
        </p:nvSpPr>
        <p:spPr>
          <a:xfrm>
            <a:off x="1096981" y="29332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Crear la lista</a:t>
            </a:r>
            <a:endParaRPr lang="en-US" sz="22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4E457376-373D-A612-AB42-85A1442299DC}"/>
              </a:ext>
            </a:extLst>
          </p:cNvPr>
          <p:cNvSpPr/>
          <p:nvPr/>
        </p:nvSpPr>
        <p:spPr>
          <a:xfrm>
            <a:off x="1096981" y="3413205"/>
            <a:ext cx="2749487" cy="1814274"/>
          </a:xfrm>
          <a:prstGeom prst="roundRect">
            <a:avLst>
              <a:gd name="adj" fmla="val 3000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27B7F842-90C4-AE23-34CB-54D64C9149FB}"/>
              </a:ext>
            </a:extLst>
          </p:cNvPr>
          <p:cNvSpPr/>
          <p:nvPr/>
        </p:nvSpPr>
        <p:spPr>
          <a:xfrm>
            <a:off x="1380469" y="3640019"/>
            <a:ext cx="2219379" cy="1357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estudiantes = ["Ana", "Luis", "María", "Pedro"]</a:t>
            </a:r>
            <a:endParaRPr lang="en-US" sz="1750" dirty="0"/>
          </a:p>
        </p:txBody>
      </p:sp>
      <p:pic>
        <p:nvPicPr>
          <p:cNvPr id="22" name="Image 1">
            <a:extLst>
              <a:ext uri="{FF2B5EF4-FFF2-40B4-BE49-F238E27FC236}">
                <a16:creationId xmlns:a16="http://schemas.microsoft.com/office/drawing/2014/main" id="{E6268547-8665-0944-C001-AC7769F56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256" y="2162710"/>
            <a:ext cx="2749487" cy="748903"/>
          </a:xfrm>
          <a:prstGeom prst="rect">
            <a:avLst/>
          </a:prstGeom>
        </p:spPr>
      </p:pic>
      <p:sp>
        <p:nvSpPr>
          <p:cNvPr id="23" name="Text 5">
            <a:extLst>
              <a:ext uri="{FF2B5EF4-FFF2-40B4-BE49-F238E27FC236}">
                <a16:creationId xmlns:a16="http://schemas.microsoft.com/office/drawing/2014/main" id="{43EC81E0-8136-375D-4291-021A68CA8D71}"/>
              </a:ext>
            </a:extLst>
          </p:cNvPr>
          <p:cNvSpPr/>
          <p:nvPr/>
        </p:nvSpPr>
        <p:spPr>
          <a:xfrm>
            <a:off x="4715559" y="29332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Escribir el ciclo for</a:t>
            </a:r>
            <a:endParaRPr lang="en-US" sz="22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A6EB2071-1CF1-380A-D585-0F6977E30C5F}"/>
              </a:ext>
            </a:extLst>
          </p:cNvPr>
          <p:cNvSpPr/>
          <p:nvPr/>
        </p:nvSpPr>
        <p:spPr>
          <a:xfrm>
            <a:off x="4715559" y="3429000"/>
            <a:ext cx="2835235" cy="1814274"/>
          </a:xfrm>
          <a:prstGeom prst="roundRect">
            <a:avLst>
              <a:gd name="adj" fmla="val 3000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192F4F52-FA6A-2A15-D533-E0BAACF8876A}"/>
              </a:ext>
            </a:extLst>
          </p:cNvPr>
          <p:cNvSpPr/>
          <p:nvPr/>
        </p:nvSpPr>
        <p:spPr>
          <a:xfrm>
            <a:off x="4999047" y="3655814"/>
            <a:ext cx="319837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estudiante in estudiantes: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print(f"Hola, {estudiante}!")</a:t>
            </a:r>
            <a:endParaRPr lang="en-US" sz="1750" dirty="0"/>
          </a:p>
        </p:txBody>
      </p:sp>
      <p:pic>
        <p:nvPicPr>
          <p:cNvPr id="26" name="Image 2">
            <a:extLst>
              <a:ext uri="{FF2B5EF4-FFF2-40B4-BE49-F238E27FC236}">
                <a16:creationId xmlns:a16="http://schemas.microsoft.com/office/drawing/2014/main" id="{87645748-1E0A-50E7-B232-8DD73AE42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531" y="2162710"/>
            <a:ext cx="2749487" cy="748903"/>
          </a:xfrm>
          <a:prstGeom prst="rect">
            <a:avLst/>
          </a:prstGeom>
        </p:spPr>
      </p:pic>
      <p:sp>
        <p:nvSpPr>
          <p:cNvPr id="27" name="Text 9">
            <a:extLst>
              <a:ext uri="{FF2B5EF4-FFF2-40B4-BE49-F238E27FC236}">
                <a16:creationId xmlns:a16="http://schemas.microsoft.com/office/drawing/2014/main" id="{2ABED04F-4EB0-5E01-0C8C-879C512BAF78}"/>
              </a:ext>
            </a:extLst>
          </p:cNvPr>
          <p:cNvSpPr/>
          <p:nvPr/>
        </p:nvSpPr>
        <p:spPr>
          <a:xfrm>
            <a:off x="8345531" y="2936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Resultado</a:t>
            </a:r>
            <a:endParaRPr lang="en-US" sz="220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B312C748-4BF8-2187-3446-9498F33E9577}"/>
              </a:ext>
            </a:extLst>
          </p:cNvPr>
          <p:cNvSpPr/>
          <p:nvPr/>
        </p:nvSpPr>
        <p:spPr>
          <a:xfrm>
            <a:off x="8345531" y="3429000"/>
            <a:ext cx="2835235" cy="1814274"/>
          </a:xfrm>
          <a:prstGeom prst="roundRect">
            <a:avLst>
              <a:gd name="adj" fmla="val 1875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6289CA28-1B0B-9948-91DE-B758D7D1DD4C}"/>
              </a:ext>
            </a:extLst>
          </p:cNvPr>
          <p:cNvSpPr/>
          <p:nvPr/>
        </p:nvSpPr>
        <p:spPr>
          <a:xfrm>
            <a:off x="8629018" y="3655814"/>
            <a:ext cx="3198376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Hola, Ana!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Hola, Luis!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Hola, María!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Hola, Pedro!</a:t>
            </a:r>
            <a:endParaRPr lang="en-US" sz="1750" dirty="0"/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578A41A6-50EB-2E8E-36E7-15957FD5B14D}"/>
              </a:ext>
            </a:extLst>
          </p:cNvPr>
          <p:cNvSpPr/>
          <p:nvPr/>
        </p:nvSpPr>
        <p:spPr>
          <a:xfrm>
            <a:off x="782420" y="584105"/>
            <a:ext cx="78662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5550"/>
              </a:lnSpc>
            </a:pPr>
            <a:r>
              <a:rPr lang="en-US" sz="480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Ejemplo</a:t>
            </a:r>
            <a:r>
              <a:rPr lang="en-US" sz="4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480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práctico</a:t>
            </a:r>
            <a:r>
              <a:rPr lang="en-US" sz="4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: </a:t>
            </a:r>
            <a:r>
              <a:rPr lang="en-US" sz="480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recorriendo</a:t>
            </a:r>
            <a:r>
              <a:rPr lang="en-US" sz="4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480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una</a:t>
            </a:r>
            <a:r>
              <a:rPr lang="en-US" sz="4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480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lista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556801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B8560F1-F9D9-CC79-8AB5-B54254768EB5}"/>
              </a:ext>
            </a:extLst>
          </p:cNvPr>
          <p:cNvSpPr/>
          <p:nvPr/>
        </p:nvSpPr>
        <p:spPr>
          <a:xfrm>
            <a:off x="393739" y="26235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¿Qué ocurre </a:t>
            </a:r>
            <a:r>
              <a:rPr lang="en-US" sz="445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</a:t>
            </a: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445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cada</a:t>
            </a: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445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iteración</a:t>
            </a: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?</a:t>
            </a:r>
            <a:endParaRPr lang="en-US" sz="4450" dirty="0"/>
          </a:p>
        </p:txBody>
      </p:sp>
      <p:graphicFrame>
        <p:nvGraphicFramePr>
          <p:cNvPr id="26" name="Diagrama 25">
            <a:extLst>
              <a:ext uri="{FF2B5EF4-FFF2-40B4-BE49-F238E27FC236}">
                <a16:creationId xmlns:a16="http://schemas.microsoft.com/office/drawing/2014/main" id="{3471B1A5-E3D6-C702-0C36-89E487CAAC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9224607"/>
              </p:ext>
            </p:extLst>
          </p:nvPr>
        </p:nvGraphicFramePr>
        <p:xfrm>
          <a:off x="6275308" y="2028824"/>
          <a:ext cx="6626225" cy="42714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7" name="Shape 7">
            <a:extLst>
              <a:ext uri="{FF2B5EF4-FFF2-40B4-BE49-F238E27FC236}">
                <a16:creationId xmlns:a16="http://schemas.microsoft.com/office/drawing/2014/main" id="{363DFF6E-A846-B7B2-5342-50C9F2F99182}"/>
              </a:ext>
            </a:extLst>
          </p:cNvPr>
          <p:cNvSpPr/>
          <p:nvPr/>
        </p:nvSpPr>
        <p:spPr>
          <a:xfrm>
            <a:off x="838325" y="3421781"/>
            <a:ext cx="2835235" cy="1814274"/>
          </a:xfrm>
          <a:prstGeom prst="roundRect">
            <a:avLst>
              <a:gd name="adj" fmla="val 3000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36078CBB-E1E2-43B2-38D7-06010CCDEFFC}"/>
              </a:ext>
            </a:extLst>
          </p:cNvPr>
          <p:cNvSpPr/>
          <p:nvPr/>
        </p:nvSpPr>
        <p:spPr>
          <a:xfrm>
            <a:off x="1121813" y="3648595"/>
            <a:ext cx="319837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estudiante in estudiantes: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print(f"Hola, {estudiante}!")</a:t>
            </a:r>
            <a:endParaRPr lang="en-US" sz="1750" dirty="0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2D5D3A01-A2DD-734B-971E-A59D1179FD3D}"/>
              </a:ext>
            </a:extLst>
          </p:cNvPr>
          <p:cNvSpPr/>
          <p:nvPr/>
        </p:nvSpPr>
        <p:spPr>
          <a:xfrm>
            <a:off x="4468297" y="3421781"/>
            <a:ext cx="2835235" cy="1814274"/>
          </a:xfrm>
          <a:prstGeom prst="roundRect">
            <a:avLst>
              <a:gd name="adj" fmla="val 1875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FC33D460-6A0F-F15F-FF03-BC48AF96F8C8}"/>
              </a:ext>
            </a:extLst>
          </p:cNvPr>
          <p:cNvSpPr/>
          <p:nvPr/>
        </p:nvSpPr>
        <p:spPr>
          <a:xfrm>
            <a:off x="4751784" y="3648595"/>
            <a:ext cx="3198376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Hola, Ana!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Hola, Luis!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Hola, María!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Hola, Pedro!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940539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5A4E8AF-057B-11E1-7D89-3865DEFA0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535" y="2270927"/>
            <a:ext cx="3008805" cy="4104605"/>
          </a:xfrm>
          <a:prstGeom prst="rect">
            <a:avLst/>
          </a:prstGeom>
          <a:noFill/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3341EA14-1D0B-BE9D-60AE-57F7D586ECBF}"/>
              </a:ext>
            </a:extLst>
          </p:cNvPr>
          <p:cNvSpPr/>
          <p:nvPr/>
        </p:nvSpPr>
        <p:spPr>
          <a:xfrm>
            <a:off x="393739" y="262355"/>
            <a:ext cx="930271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Ciclo While: </a:t>
            </a:r>
            <a:r>
              <a:rPr lang="en-US" sz="445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repetir</a:t>
            </a: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con </a:t>
            </a:r>
            <a:r>
              <a:rPr lang="en-US" sz="445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condición</a:t>
            </a:r>
            <a:endParaRPr lang="en-US" sz="44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93F2292-7550-4AB4-3A8A-561C1E8CDBE0}"/>
              </a:ext>
            </a:extLst>
          </p:cNvPr>
          <p:cNvSpPr/>
          <p:nvPr/>
        </p:nvSpPr>
        <p:spPr>
          <a:xfrm>
            <a:off x="914542" y="1570049"/>
            <a:ext cx="6419707" cy="118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ciclo </a:t>
            </a:r>
            <a:r>
              <a:rPr lang="en-US" sz="2400" b="1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while se repite mientras</a:t>
            </a:r>
            <a:r>
              <a:rPr lang="en-US" sz="2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una condición sea verdadera. Es perfecto cuando no sabes exactamente cuántas veces necesitas repetir.</a:t>
            </a:r>
            <a:endParaRPr lang="en-US" sz="2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3FE65E8-DD80-3619-BF94-D0BD49511065}"/>
              </a:ext>
            </a:extLst>
          </p:cNvPr>
          <p:cNvSpPr/>
          <p:nvPr/>
        </p:nvSpPr>
        <p:spPr>
          <a:xfrm>
            <a:off x="914542" y="3119861"/>
            <a:ext cx="3163582" cy="54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400"/>
              </a:lnSpc>
              <a:buNone/>
            </a:pPr>
            <a:r>
              <a:rPr lang="en-US" sz="3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Sintaxis</a:t>
            </a:r>
            <a:endParaRPr lang="en-US" sz="3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9649A09-26F2-4576-FE5D-085D9D44DAF0}"/>
              </a:ext>
            </a:extLst>
          </p:cNvPr>
          <p:cNvSpPr/>
          <p:nvPr/>
        </p:nvSpPr>
        <p:spPr>
          <a:xfrm>
            <a:off x="914542" y="3662772"/>
            <a:ext cx="5735598" cy="1876841"/>
          </a:xfrm>
          <a:prstGeom prst="roundRect">
            <a:avLst>
              <a:gd name="adj" fmla="val 2779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es-CL" sz="54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B50C37D-1DEB-D1F2-3AFF-D8C0F25E5C77}"/>
              </a:ext>
            </a:extLst>
          </p:cNvPr>
          <p:cNvSpPr/>
          <p:nvPr/>
        </p:nvSpPr>
        <p:spPr>
          <a:xfrm>
            <a:off x="1402923" y="4010335"/>
            <a:ext cx="5103036" cy="118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condición: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# código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# modificar condición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01919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D370964-5A57-E595-614A-1237D98F5E7D}"/>
              </a:ext>
            </a:extLst>
          </p:cNvPr>
          <p:cNvSpPr/>
          <p:nvPr/>
        </p:nvSpPr>
        <p:spPr>
          <a:xfrm>
            <a:off x="393739" y="262355"/>
            <a:ext cx="930271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Ejemplo</a:t>
            </a: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de while: Contador simple</a:t>
            </a:r>
            <a:endParaRPr lang="en-US" sz="44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1E17F22-5E77-6C47-00ED-A923304F4C8F}"/>
              </a:ext>
            </a:extLst>
          </p:cNvPr>
          <p:cNvSpPr/>
          <p:nvPr/>
        </p:nvSpPr>
        <p:spPr>
          <a:xfrm>
            <a:off x="1392871" y="17374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Inicializar contador</a:t>
            </a:r>
            <a:endParaRPr lang="en-US" sz="2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02EF6B8-ED5A-EEE2-44F2-ACAF5022F499}"/>
              </a:ext>
            </a:extLst>
          </p:cNvPr>
          <p:cNvSpPr/>
          <p:nvPr/>
        </p:nvSpPr>
        <p:spPr>
          <a:xfrm>
            <a:off x="494119" y="2538472"/>
            <a:ext cx="2153205" cy="793790"/>
          </a:xfrm>
          <a:prstGeom prst="roundRect">
            <a:avLst>
              <a:gd name="adj" fmla="val 4286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6BCB3D9-669B-BFF9-5DBB-2CDBE0F247CD}"/>
              </a:ext>
            </a:extLst>
          </p:cNvPr>
          <p:cNvSpPr/>
          <p:nvPr/>
        </p:nvSpPr>
        <p:spPr>
          <a:xfrm>
            <a:off x="638800" y="2747616"/>
            <a:ext cx="1863842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 = 0</a:t>
            </a:r>
            <a:endParaRPr lang="en-US" sz="17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BA0FC06-CC03-CFD4-CD0E-103D5FA99E94}"/>
              </a:ext>
            </a:extLst>
          </p:cNvPr>
          <p:cNvSpPr/>
          <p:nvPr/>
        </p:nvSpPr>
        <p:spPr>
          <a:xfrm>
            <a:off x="5027730" y="1721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Comprobar condición</a:t>
            </a:r>
            <a:endParaRPr lang="en-US" sz="2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738D503-85D9-E1A7-E522-DDD2FBCC6E48}"/>
              </a:ext>
            </a:extLst>
          </p:cNvPr>
          <p:cNvSpPr/>
          <p:nvPr/>
        </p:nvSpPr>
        <p:spPr>
          <a:xfrm>
            <a:off x="4121289" y="2502694"/>
            <a:ext cx="3384411" cy="1474113"/>
          </a:xfrm>
          <a:prstGeom prst="roundRect">
            <a:avLst>
              <a:gd name="adj" fmla="val 2308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6B2D4C3-63E0-6DCB-85BC-D04CED6DADE6}"/>
              </a:ext>
            </a:extLst>
          </p:cNvPr>
          <p:cNvSpPr/>
          <p:nvPr/>
        </p:nvSpPr>
        <p:spPr>
          <a:xfrm>
            <a:off x="4404776" y="2774871"/>
            <a:ext cx="2929590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contador &lt; 5: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print(contador)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contador += 1</a:t>
            </a:r>
            <a:endParaRPr lang="en-US" sz="17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C74102B-A0C7-F222-003E-7071A6E077DF}"/>
              </a:ext>
            </a:extLst>
          </p:cNvPr>
          <p:cNvSpPr/>
          <p:nvPr/>
        </p:nvSpPr>
        <p:spPr>
          <a:xfrm>
            <a:off x="9339401" y="17253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Resultado</a:t>
            </a:r>
            <a:endParaRPr lang="en-US" sz="22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14D5DED7-59C7-5DE1-7671-A95F479AA5BA}"/>
              </a:ext>
            </a:extLst>
          </p:cNvPr>
          <p:cNvSpPr/>
          <p:nvPr/>
        </p:nvSpPr>
        <p:spPr>
          <a:xfrm>
            <a:off x="8409682" y="2476262"/>
            <a:ext cx="2948129" cy="2154436"/>
          </a:xfrm>
          <a:prstGeom prst="roundRect">
            <a:avLst>
              <a:gd name="adj" fmla="val 1579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6A3D05AA-AD08-807A-DCBE-CC98A22B3ABC}"/>
              </a:ext>
            </a:extLst>
          </p:cNvPr>
          <p:cNvSpPr/>
          <p:nvPr/>
        </p:nvSpPr>
        <p:spPr>
          <a:xfrm>
            <a:off x="8693170" y="2655928"/>
            <a:ext cx="3652004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3408F96B-0519-635E-6A49-DECDE1DBFAA4}"/>
              </a:ext>
            </a:extLst>
          </p:cNvPr>
          <p:cNvSpPr/>
          <p:nvPr/>
        </p:nvSpPr>
        <p:spPr>
          <a:xfrm>
            <a:off x="-144379" y="5206950"/>
            <a:ext cx="12489553" cy="1700808"/>
          </a:xfrm>
          <a:prstGeom prst="roundRect">
            <a:avLst>
              <a:gd name="adj" fmla="val 10123"/>
            </a:avLst>
          </a:prstGeom>
          <a:solidFill>
            <a:srgbClr val="C6E4E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C043B85-BF59-0BA9-AB59-5D458C584C86}"/>
              </a:ext>
            </a:extLst>
          </p:cNvPr>
          <p:cNvSpPr/>
          <p:nvPr/>
        </p:nvSpPr>
        <p:spPr>
          <a:xfrm>
            <a:off x="1701252" y="5851495"/>
            <a:ext cx="1207889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¡Cuidado!</a:t>
            </a: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Siempre modifica la condición dentro del ciclo para evitar bucles infinitos.</a:t>
            </a:r>
            <a:endParaRPr lang="en-US" sz="2000" dirty="0"/>
          </a:p>
        </p:txBody>
      </p:sp>
      <p:pic>
        <p:nvPicPr>
          <p:cNvPr id="21" name="Gráfico 20" descr="Insignia 3 con relleno sólido">
            <a:extLst>
              <a:ext uri="{FF2B5EF4-FFF2-40B4-BE49-F238E27FC236}">
                <a16:creationId xmlns:a16="http://schemas.microsoft.com/office/drawing/2014/main" id="{8E23FF02-FA3C-8E93-3B4B-71DE020AA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0269" y="1435299"/>
            <a:ext cx="914400" cy="914400"/>
          </a:xfrm>
          <a:prstGeom prst="rect">
            <a:avLst/>
          </a:prstGeom>
        </p:spPr>
      </p:pic>
      <p:pic>
        <p:nvPicPr>
          <p:cNvPr id="23" name="Gráfico 22" descr="Insignia con relleno sólido">
            <a:extLst>
              <a:ext uri="{FF2B5EF4-FFF2-40B4-BE49-F238E27FC236}">
                <a16:creationId xmlns:a16="http://schemas.microsoft.com/office/drawing/2014/main" id="{C39C415B-A079-62B1-36E8-4EE6D2D33F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8598" y="1441317"/>
            <a:ext cx="914400" cy="914400"/>
          </a:xfrm>
          <a:prstGeom prst="rect">
            <a:avLst/>
          </a:prstGeom>
        </p:spPr>
      </p:pic>
      <p:pic>
        <p:nvPicPr>
          <p:cNvPr id="25" name="Gráfico 24" descr="Insignia 1 con relleno sólido">
            <a:extLst>
              <a:ext uri="{FF2B5EF4-FFF2-40B4-BE49-F238E27FC236}">
                <a16:creationId xmlns:a16="http://schemas.microsoft.com/office/drawing/2014/main" id="{601BE807-7765-5227-2DE4-CD579F8125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739" y="1445311"/>
            <a:ext cx="914400" cy="914400"/>
          </a:xfrm>
          <a:prstGeom prst="rect">
            <a:avLst/>
          </a:prstGeom>
        </p:spPr>
      </p:pic>
      <p:grpSp>
        <p:nvGrpSpPr>
          <p:cNvPr id="29" name="Grupo 28">
            <a:extLst>
              <a:ext uri="{FF2B5EF4-FFF2-40B4-BE49-F238E27FC236}">
                <a16:creationId xmlns:a16="http://schemas.microsoft.com/office/drawing/2014/main" id="{6946397D-4139-FA62-6DE6-55949561F760}"/>
              </a:ext>
            </a:extLst>
          </p:cNvPr>
          <p:cNvGrpSpPr/>
          <p:nvPr/>
        </p:nvGrpSpPr>
        <p:grpSpPr>
          <a:xfrm>
            <a:off x="393739" y="5575274"/>
            <a:ext cx="914400" cy="914400"/>
            <a:chOff x="311765" y="5374956"/>
            <a:chExt cx="914400" cy="914400"/>
          </a:xfrm>
        </p:grpSpPr>
        <p:sp>
          <p:nvSpPr>
            <p:cNvPr id="28" name="Triángulo isósceles 27">
              <a:extLst>
                <a:ext uri="{FF2B5EF4-FFF2-40B4-BE49-F238E27FC236}">
                  <a16:creationId xmlns:a16="http://schemas.microsoft.com/office/drawing/2014/main" id="{85B31308-2C7C-D8DA-F1DB-4A2572A11AA9}"/>
                </a:ext>
              </a:extLst>
            </p:cNvPr>
            <p:cNvSpPr/>
            <p:nvPr/>
          </p:nvSpPr>
          <p:spPr>
            <a:xfrm>
              <a:off x="440352" y="5567254"/>
              <a:ext cx="657225" cy="561616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27" name="Gráfico 26" descr="Advertencia con relleno sólido">
              <a:extLst>
                <a:ext uri="{FF2B5EF4-FFF2-40B4-BE49-F238E27FC236}">
                  <a16:creationId xmlns:a16="http://schemas.microsoft.com/office/drawing/2014/main" id="{40DC8CEE-9C62-ADE7-B065-18FAE0422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11765" y="5374956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9311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59A37C0B-F227-BFBE-11F2-10B0FCECDB77}"/>
              </a:ext>
            </a:extLst>
          </p:cNvPr>
          <p:cNvSpPr/>
          <p:nvPr/>
        </p:nvSpPr>
        <p:spPr>
          <a:xfrm>
            <a:off x="302300" y="286362"/>
            <a:ext cx="86741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Estructura match: elegir opciones</a:t>
            </a:r>
            <a:endParaRPr lang="en-US" sz="44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73CCD32-56E9-0BEE-36F6-A02AC3C99823}"/>
              </a:ext>
            </a:extLst>
          </p:cNvPr>
          <p:cNvSpPr/>
          <p:nvPr/>
        </p:nvSpPr>
        <p:spPr>
          <a:xfrm>
            <a:off x="1254517" y="15621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¿Qué es?</a:t>
            </a:r>
            <a:endParaRPr lang="en-US" sz="22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7DE1D72-860C-A3B4-F432-6281D4D3C87E}"/>
              </a:ext>
            </a:extLst>
          </p:cNvPr>
          <p:cNvSpPr/>
          <p:nvPr/>
        </p:nvSpPr>
        <p:spPr>
          <a:xfrm>
            <a:off x="1254517" y="2143260"/>
            <a:ext cx="467396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Desde Python 3.10, </a:t>
            </a:r>
            <a:r>
              <a:rPr lang="en-US" sz="1750" b="1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 una forma más clara de manejar múltiples condiciones.</a:t>
            </a:r>
            <a:endParaRPr lang="en-US" sz="17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B3AC1FC-1727-D83C-25B7-38F739616889}"/>
              </a:ext>
            </a:extLst>
          </p:cNvPr>
          <p:cNvSpPr/>
          <p:nvPr/>
        </p:nvSpPr>
        <p:spPr>
          <a:xfrm>
            <a:off x="1254517" y="30503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Sintaxis</a:t>
            </a:r>
            <a:endParaRPr lang="en-US" sz="22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A2A00DBF-F4AB-26F6-8578-3382B9800090}"/>
              </a:ext>
            </a:extLst>
          </p:cNvPr>
          <p:cNvSpPr/>
          <p:nvPr/>
        </p:nvSpPr>
        <p:spPr>
          <a:xfrm>
            <a:off x="1243207" y="3659878"/>
            <a:ext cx="4673962" cy="2834759"/>
          </a:xfrm>
          <a:prstGeom prst="roundRect">
            <a:avLst>
              <a:gd name="adj" fmla="val 1200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4FF4129-4947-E829-A499-5AED98EB8CE8}"/>
              </a:ext>
            </a:extLst>
          </p:cNvPr>
          <p:cNvSpPr/>
          <p:nvPr/>
        </p:nvSpPr>
        <p:spPr>
          <a:xfrm>
            <a:off x="1526694" y="3886693"/>
            <a:ext cx="5700355" cy="2381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match variable: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valor1: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código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valor2: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código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_: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por defecto</a:t>
            </a:r>
            <a:endParaRPr lang="en-US" sz="17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3114D03-69D3-3B74-CED8-A21730183FA5}"/>
              </a:ext>
            </a:extLst>
          </p:cNvPr>
          <p:cNvSpPr/>
          <p:nvPr/>
        </p:nvSpPr>
        <p:spPr>
          <a:xfrm>
            <a:off x="6875471" y="17313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Ejemplo: menú simple</a:t>
            </a:r>
            <a:endParaRPr lang="en-US" sz="22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9461E47E-F581-8D1A-B766-6B7BB1E1594B}"/>
              </a:ext>
            </a:extLst>
          </p:cNvPr>
          <p:cNvSpPr/>
          <p:nvPr/>
        </p:nvSpPr>
        <p:spPr>
          <a:xfrm>
            <a:off x="6875471" y="2376233"/>
            <a:ext cx="4357992" cy="4195405"/>
          </a:xfrm>
          <a:prstGeom prst="roundRect">
            <a:avLst>
              <a:gd name="adj" fmla="val 2271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EB1A4CC-ACE0-0A1F-5A03-436F540EDED9}"/>
              </a:ext>
            </a:extLst>
          </p:cNvPr>
          <p:cNvSpPr/>
          <p:nvPr/>
        </p:nvSpPr>
        <p:spPr>
          <a:xfrm>
            <a:off x="7147648" y="2603047"/>
            <a:ext cx="3978104" cy="3741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opcion = input("Elige (1-3): ")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opcion: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case "1":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print("Has elegido 1")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case "2":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print("Has elegido 2")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case "3":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print("Has elegido 3")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case _:</a:t>
            </a:r>
            <a:endParaRPr lang="en-US" sz="17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print("Opción inválida")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192335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D40C7-99BF-8A84-1697-F83D75391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B4C31-C1AB-D170-8BA5-39B7230D8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Estructuras</a:t>
            </a:r>
            <a:r>
              <a:rPr lang="en-US" sz="5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de control </a:t>
            </a:r>
            <a:r>
              <a:rPr lang="en-US" sz="540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</a:t>
            </a:r>
            <a:r>
              <a:rPr lang="en-US" sz="5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Python</a:t>
            </a:r>
            <a:br>
              <a:rPr lang="en-US" sz="5400" dirty="0"/>
            </a:br>
            <a:endParaRPr lang="es-CL" sz="5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61E052-E8B2-E0A3-835C-ABE2544C5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594741"/>
          </a:xfrm>
        </p:spPr>
        <p:txBody>
          <a:bodyPr>
            <a:normAutofit/>
          </a:bodyPr>
          <a:lstStyle/>
          <a:p>
            <a:pPr algn="l"/>
            <a:r>
              <a:rPr lang="en-US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Listas</a:t>
            </a:r>
            <a:r>
              <a:rPr lang="en-US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for, while y match</a:t>
            </a:r>
            <a:endParaRPr lang="en-US" dirty="0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6693A2E4-BB35-46AB-0D5C-0B5B4E88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4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8EB8AD98-E69E-5518-374F-37D7757553B3}"/>
              </a:ext>
            </a:extLst>
          </p:cNvPr>
          <p:cNvSpPr txBox="1">
            <a:spLocks/>
          </p:cNvSpPr>
          <p:nvPr/>
        </p:nvSpPr>
        <p:spPr>
          <a:xfrm>
            <a:off x="8771337" y="6180773"/>
            <a:ext cx="3417615" cy="5947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Alejandro Moya Arjona</a:t>
            </a:r>
          </a:p>
          <a:p>
            <a:pPr algn="r"/>
            <a:r>
              <a:rPr lang="en-US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Ingeniero</a:t>
            </a:r>
            <a:r>
              <a:rPr lang="en-US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en</a:t>
            </a:r>
            <a:r>
              <a:rPr lang="en-US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Informática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312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5D4C2-48A1-B7EA-AF25-0A67F0E8E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Ejercicio 1: </a:t>
            </a:r>
            <a:r>
              <a:rPr lang="es-CL" dirty="0" err="1"/>
              <a:t>For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2EEC81D-5AE4-463C-B3F0-F24882C8F0E9}"/>
              </a:ext>
            </a:extLst>
          </p:cNvPr>
          <p:cNvSpPr txBox="1"/>
          <p:nvPr/>
        </p:nvSpPr>
        <p:spPr>
          <a:xfrm>
            <a:off x="838198" y="1654551"/>
            <a:ext cx="99250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🧩 Ejercicio Práctico</a:t>
            </a:r>
          </a:p>
          <a:p>
            <a:r>
              <a:rPr lang="es-ES" sz="2400" dirty="0"/>
              <a:t>Una profesora tiene registradas las notas de sus estudiantes en la siguiente lista: </a:t>
            </a:r>
            <a:r>
              <a:rPr lang="es-CL" sz="2400" dirty="0"/>
              <a:t>notas = [5.5, 6.0, 3.8, 4.2, 2.9]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622F6AF-A27A-C94C-3C52-A4136FB2B3B1}"/>
              </a:ext>
            </a:extLst>
          </p:cNvPr>
          <p:cNvSpPr txBox="1"/>
          <p:nvPr/>
        </p:nvSpPr>
        <p:spPr>
          <a:xfrm>
            <a:off x="838198" y="3214687"/>
            <a:ext cx="868680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👉 Desarrolla un programa que: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Recorra la lista utilizando un ciclo </a:t>
            </a:r>
            <a:r>
              <a:rPr lang="es-ES" dirty="0" err="1">
                <a:latin typeface="Courier New" panose="02070309020205020404" pitchFamily="49" charset="0"/>
              </a:rPr>
              <a:t>for</a:t>
            </a:r>
            <a:r>
              <a:rPr lang="es-E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Muestre cada nota en pantalla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Indique si el estudiante está: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Aprobado</a:t>
            </a:r>
            <a:r>
              <a:rPr lang="es-ES" dirty="0"/>
              <a:t> (nota mayor o igual a 4.0)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Reprobado</a:t>
            </a:r>
            <a:r>
              <a:rPr lang="es-ES" dirty="0"/>
              <a:t> (nota menor a 4.0) </a:t>
            </a:r>
          </a:p>
          <a:p>
            <a:pPr>
              <a:buNone/>
            </a:pPr>
            <a:br>
              <a:rPr lang="es-ES" dirty="0"/>
            </a:br>
            <a:endParaRPr lang="es-ES" dirty="0"/>
          </a:p>
          <a:p>
            <a:pPr>
              <a:buNone/>
            </a:pPr>
            <a:r>
              <a:rPr lang="es-ES" b="1" dirty="0"/>
              <a:t>🚀 Desafío adicional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Cuenta cuántos estudiantes aprobaron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Muestra el total al final del programa </a:t>
            </a:r>
          </a:p>
        </p:txBody>
      </p:sp>
    </p:spTree>
    <p:extLst>
      <p:ext uri="{BB962C8B-B14F-4D97-AF65-F5344CB8AC3E}">
        <p14:creationId xmlns:p14="http://schemas.microsoft.com/office/powerpoint/2010/main" val="1795971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4A82EA6-EF92-E5B8-B8DA-35FDC078FDAD}"/>
              </a:ext>
            </a:extLst>
          </p:cNvPr>
          <p:cNvSpPr txBox="1"/>
          <p:nvPr/>
        </p:nvSpPr>
        <p:spPr>
          <a:xfrm>
            <a:off x="838200" y="1881991"/>
            <a:ext cx="1021080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🧩 Ejercicio Práctico: Uso de </a:t>
            </a:r>
            <a:r>
              <a:rPr lang="es-ES" sz="2400" b="1" dirty="0" err="1">
                <a:latin typeface="Courier New" panose="02070309020205020404" pitchFamily="49" charset="0"/>
              </a:rPr>
              <a:t>while</a:t>
            </a:r>
            <a:endParaRPr lang="es-ES" sz="2400" b="1" dirty="0"/>
          </a:p>
          <a:p>
            <a:pPr>
              <a:buNone/>
            </a:pPr>
            <a:r>
              <a:rPr lang="es-ES" sz="2400" dirty="0"/>
              <a:t>Un sistema debe validar el acceso de un usuario mediante una contraseña.</a:t>
            </a:r>
          </a:p>
          <a:p>
            <a:pPr>
              <a:buNone/>
            </a:pPr>
            <a:br>
              <a:rPr lang="es-ES" dirty="0"/>
            </a:br>
            <a:endParaRPr lang="es-ES" dirty="0"/>
          </a:p>
          <a:p>
            <a:pPr>
              <a:buNone/>
            </a:pPr>
            <a:r>
              <a:rPr lang="es-ES" b="1" dirty="0"/>
              <a:t>👉 Desarrolla un programa que: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Solicite al usuario ingresar una contraseña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Repita la solicitud </a:t>
            </a:r>
            <a:r>
              <a:rPr lang="es-ES" b="1" dirty="0"/>
              <a:t>mientras la contraseña sea incorrecta</a:t>
            </a:r>
            <a:r>
              <a:rPr lang="es-E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Cuando la contraseña sea correcta, muestre el mensaje:</a:t>
            </a:r>
            <a:br>
              <a:rPr lang="es-ES" dirty="0"/>
            </a:br>
            <a:r>
              <a:rPr lang="es-ES" b="1" dirty="0"/>
              <a:t>“Acceso permitido”</a:t>
            </a:r>
            <a:r>
              <a:rPr lang="es-ES" dirty="0"/>
              <a:t> </a:t>
            </a:r>
          </a:p>
          <a:p>
            <a:pPr>
              <a:buNone/>
            </a:pPr>
            <a:br>
              <a:rPr lang="es-ES" dirty="0"/>
            </a:br>
            <a:endParaRPr lang="es-ES" dirty="0"/>
          </a:p>
          <a:p>
            <a:pPr>
              <a:buNone/>
            </a:pPr>
            <a:r>
              <a:rPr lang="es-ES" b="1" dirty="0"/>
              <a:t>🔐 Condición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La contraseña correcta es: </a:t>
            </a:r>
            <a:r>
              <a:rPr lang="es-ES" dirty="0">
                <a:latin typeface="Courier New" panose="02070309020205020404" pitchFamily="49" charset="0"/>
              </a:rPr>
              <a:t>"1234"</a:t>
            </a:r>
            <a:endParaRPr lang="es-ES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6CEF594-F12B-15FA-053E-5D0EA88EE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CL" dirty="0"/>
              <a:t>Ejercicio 2: </a:t>
            </a:r>
            <a:r>
              <a:rPr lang="es-CL" dirty="0" err="1"/>
              <a:t>While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34152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00E978B-5C7F-FBC3-1441-9D3210773458}"/>
              </a:ext>
            </a:extLst>
          </p:cNvPr>
          <p:cNvSpPr txBox="1"/>
          <p:nvPr/>
        </p:nvSpPr>
        <p:spPr>
          <a:xfrm>
            <a:off x="838200" y="1900268"/>
            <a:ext cx="754871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🧩 Ejercicio Práctico Integrador</a:t>
            </a:r>
          </a:p>
          <a:p>
            <a:pPr>
              <a:buNone/>
            </a:pPr>
            <a:r>
              <a:rPr lang="es-ES" dirty="0"/>
              <a:t>Se desea desarrollar un pequeño sistema de menú para gestionar una lista de números.</a:t>
            </a:r>
          </a:p>
          <a:p>
            <a:pPr rtl="0">
              <a:buNone/>
            </a:pPr>
            <a:r>
              <a:rPr lang="es-ES" dirty="0" err="1">
                <a:latin typeface="Courier New" panose="02070309020205020404" pitchFamily="49" charset="0"/>
              </a:rPr>
              <a:t>numeros</a:t>
            </a:r>
            <a:r>
              <a:rPr lang="es-ES" dirty="0">
                <a:latin typeface="Courier New" panose="02070309020205020404" pitchFamily="49" charset="0"/>
              </a:rPr>
              <a:t> = [2, 5, 8, 10, 3]</a:t>
            </a:r>
          </a:p>
          <a:p>
            <a:pPr>
              <a:buNone/>
            </a:pPr>
            <a:br>
              <a:rPr lang="es-ES" dirty="0"/>
            </a:br>
            <a:endParaRPr lang="es-ES" dirty="0"/>
          </a:p>
          <a:p>
            <a:pPr>
              <a:buNone/>
            </a:pPr>
            <a:r>
              <a:rPr lang="es-ES" b="1" dirty="0"/>
              <a:t>👉 Desarrolla un programa que:</a:t>
            </a:r>
          </a:p>
          <a:p>
            <a:pPr>
              <a:buFont typeface="+mj-lt"/>
              <a:buAutoNum type="arabicPeriod"/>
            </a:pPr>
            <a:r>
              <a:rPr lang="es-ES" dirty="0"/>
              <a:t>Muestre un menú con las siguientes opciones: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1: Mostrar todos los números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2: Mostrar solo números pares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3: Calcular la suma total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0: Salir </a:t>
            </a:r>
          </a:p>
          <a:p>
            <a:pPr>
              <a:buFont typeface="+mj-lt"/>
              <a:buAutoNum type="arabicPeriod"/>
            </a:pPr>
            <a:r>
              <a:rPr lang="es-ES" dirty="0"/>
              <a:t>Utilice un ciclo </a:t>
            </a:r>
            <a:r>
              <a:rPr lang="es-ES" dirty="0" err="1">
                <a:latin typeface="Courier New" panose="02070309020205020404" pitchFamily="49" charset="0"/>
              </a:rPr>
              <a:t>while</a:t>
            </a:r>
            <a:r>
              <a:rPr lang="es-ES" dirty="0"/>
              <a:t> para repetir el menú hasta que el usuario elija salir </a:t>
            </a:r>
          </a:p>
          <a:p>
            <a:pPr>
              <a:buFont typeface="+mj-lt"/>
              <a:buAutoNum type="arabicPeriod"/>
            </a:pPr>
            <a:r>
              <a:rPr lang="es-ES" dirty="0"/>
              <a:t>Utilice </a:t>
            </a:r>
            <a:r>
              <a:rPr lang="es-ES" dirty="0">
                <a:latin typeface="Courier New" panose="02070309020205020404" pitchFamily="49" charset="0"/>
              </a:rPr>
              <a:t>match</a:t>
            </a:r>
            <a:r>
              <a:rPr lang="es-ES" dirty="0"/>
              <a:t> para manejar las opciones del menú </a:t>
            </a:r>
          </a:p>
          <a:p>
            <a:pPr>
              <a:buFont typeface="+mj-lt"/>
              <a:buAutoNum type="arabicPeriod"/>
            </a:pPr>
            <a:r>
              <a:rPr lang="es-ES" dirty="0"/>
              <a:t>Utilice un ciclo </a:t>
            </a:r>
            <a:r>
              <a:rPr lang="es-ES" dirty="0" err="1">
                <a:latin typeface="Courier New" panose="02070309020205020404" pitchFamily="49" charset="0"/>
              </a:rPr>
              <a:t>for</a:t>
            </a:r>
            <a:r>
              <a:rPr lang="es-ES" dirty="0"/>
              <a:t> para recorrer la lista en cada opción 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92C8938-CB65-876F-A568-D44697ADA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CL" dirty="0"/>
              <a:t>Ejercicio 3: </a:t>
            </a:r>
            <a:r>
              <a:rPr lang="es-CL" dirty="0" err="1"/>
              <a:t>For</a:t>
            </a:r>
            <a:r>
              <a:rPr lang="es-CL" dirty="0"/>
              <a:t>, </a:t>
            </a:r>
            <a:r>
              <a:rPr lang="es-CL" dirty="0" err="1"/>
              <a:t>While</a:t>
            </a:r>
            <a:r>
              <a:rPr lang="es-CL" dirty="0"/>
              <a:t> y Match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796EB20-C6F2-2C15-D0F4-AC7487F43F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653"/>
          <a:stretch>
            <a:fillRect/>
          </a:stretch>
        </p:blipFill>
        <p:spPr>
          <a:xfrm>
            <a:off x="8820516" y="1900268"/>
            <a:ext cx="2791382" cy="454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1171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821</Words>
  <Application>Microsoft Office PowerPoint</Application>
  <PresentationFormat>Panorámica</PresentationFormat>
  <Paragraphs>140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Courier New</vt:lpstr>
      <vt:lpstr>Host Grotesk Medium</vt:lpstr>
      <vt:lpstr>Roboto</vt:lpstr>
      <vt:lpstr>Tema de Office</vt:lpstr>
      <vt:lpstr>Estructuras de control en Python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Estructuras de control en Python </vt:lpstr>
      <vt:lpstr>Ejercicio 1: For</vt:lpstr>
      <vt:lpstr>Ejercicio 2: While</vt:lpstr>
      <vt:lpstr>Ejercicio 3: For, While y Match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Moya Arjona</dc:creator>
  <cp:lastModifiedBy>Alejandro Moya Arjona</cp:lastModifiedBy>
  <cp:revision>6</cp:revision>
  <dcterms:created xsi:type="dcterms:W3CDTF">2026-03-26T04:13:45Z</dcterms:created>
  <dcterms:modified xsi:type="dcterms:W3CDTF">2026-03-26T13:00:46Z</dcterms:modified>
</cp:coreProperties>
</file>